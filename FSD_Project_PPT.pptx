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Quattrocento"/>
      <p:regular r:id="rId17"/>
    </p:embeddedFont>
    <p:embeddedFont>
      <p:font typeface="Quattrocento"/>
      <p:regular r:id="rId18"/>
    </p:embeddedFont>
    <p:embeddedFont>
      <p:font typeface="Quattrocento"/>
      <p:regular r:id="rId19"/>
    </p:embeddedFont>
    <p:embeddedFont>
      <p:font typeface="Quattrocento"/>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Bhuvangs04/Full-Stack-website" TargetMode="External"/><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37724" y="1124188"/>
            <a:ext cx="12954952" cy="1408033"/>
          </a:xfrm>
          <a:prstGeom prst="rect">
            <a:avLst/>
          </a:prstGeom>
          <a:noFill/>
          <a:ln/>
        </p:spPr>
        <p:txBody>
          <a:bodyPr wrap="squar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FreelancerHub: A Secure, End-to-End Freelancing Platform</a:t>
            </a:r>
            <a:endParaRPr lang="en-US" sz="4400" dirty="0"/>
          </a:p>
        </p:txBody>
      </p:sp>
      <p:sp>
        <p:nvSpPr>
          <p:cNvPr id="3" name="Text 1"/>
          <p:cNvSpPr/>
          <p:nvPr/>
        </p:nvSpPr>
        <p:spPr>
          <a:xfrm>
            <a:off x="837724" y="2627948"/>
            <a:ext cx="12954952" cy="1126569"/>
          </a:xfrm>
          <a:prstGeom prst="rect">
            <a:avLst/>
          </a:prstGeom>
          <a:noFill/>
          <a:ln/>
        </p:spPr>
        <p:txBody>
          <a:bodyPr wrap="square" lIns="0" tIns="0" rIns="0" bIns="0" rtlCol="0" anchor="t"/>
          <a:lstStyle/>
          <a:p>
            <a:pPr algn="l" indent="0" marL="0">
              <a:lnSpc>
                <a:spcPts val="4400"/>
              </a:lnSpc>
              <a:buNone/>
            </a:pPr>
            <a:r>
              <a:rPr lang="en-US" sz="3500" dirty="0">
                <a:solidFill>
                  <a:srgbClr val="FFD9BE"/>
                </a:solidFill>
                <a:latin typeface="Quattrocento" pitchFamily="34" charset="0"/>
                <a:ea typeface="Quattrocento" pitchFamily="34" charset="-122"/>
                <a:cs typeface="Quattrocento" pitchFamily="34" charset="-120"/>
              </a:rPr>
              <a:t>Utilising the MERN stack with advanced payment and real-time communication infrastructure.</a:t>
            </a:r>
            <a:endParaRPr lang="en-US" sz="3500" dirty="0"/>
          </a:p>
        </p:txBody>
      </p:sp>
      <p:sp>
        <p:nvSpPr>
          <p:cNvPr id="4" name="Text 2"/>
          <p:cNvSpPr/>
          <p:nvPr/>
        </p:nvSpPr>
        <p:spPr>
          <a:xfrm>
            <a:off x="837724" y="4113490"/>
            <a:ext cx="12954952"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Student: Bhuvan G Sangappanavar - 1RVU23CSE113</a:t>
            </a:r>
            <a:endParaRPr lang="en-US" sz="1850" dirty="0"/>
          </a:p>
        </p:txBody>
      </p:sp>
      <p:sp>
        <p:nvSpPr>
          <p:cNvPr id="5" name="Text 3"/>
          <p:cNvSpPr/>
          <p:nvPr/>
        </p:nvSpPr>
        <p:spPr>
          <a:xfrm>
            <a:off x="837724" y="4765715"/>
            <a:ext cx="12954952"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                 M D Tejaswi Gowda - 1RVU23CSE239</a:t>
            </a:r>
            <a:endParaRPr lang="en-US" sz="1850" dirty="0"/>
          </a:p>
        </p:txBody>
      </p:sp>
      <p:sp>
        <p:nvSpPr>
          <p:cNvPr id="6" name="Text 4"/>
          <p:cNvSpPr/>
          <p:nvPr/>
        </p:nvSpPr>
        <p:spPr>
          <a:xfrm>
            <a:off x="837724" y="5417939"/>
            <a:ext cx="12954952"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                 Harsha Vardhan D Naik - 1RVU23CSE185</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a:t>
            </a:r>
            <a:endParaRPr lang="en-US" sz="1850" dirty="0"/>
          </a:p>
        </p:txBody>
      </p:sp>
      <p:sp>
        <p:nvSpPr>
          <p:cNvPr id="7" name="Text 5"/>
          <p:cNvSpPr/>
          <p:nvPr/>
        </p:nvSpPr>
        <p:spPr>
          <a:xfrm>
            <a:off x="837724" y="6070163"/>
            <a:ext cx="12954952"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Course: Full Stack Development</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a:t>
            </a:r>
            <a:endParaRPr lang="en-US" sz="1850" dirty="0"/>
          </a:p>
        </p:txBody>
      </p:sp>
      <p:sp>
        <p:nvSpPr>
          <p:cNvPr id="8" name="Text 6"/>
          <p:cNvSpPr/>
          <p:nvPr/>
        </p:nvSpPr>
        <p:spPr>
          <a:xfrm>
            <a:off x="837724" y="6722388"/>
            <a:ext cx="12954952"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607225"/>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EF9C82"/>
                </a:solidFill>
                <a:latin typeface="Quattrocento" pitchFamily="34" charset="0"/>
                <a:ea typeface="Quattrocento" pitchFamily="34" charset="-122"/>
                <a:cs typeface="Quattrocento" pitchFamily="34" charset="-120"/>
              </a:rPr>
              <a:t>Problem &amp; Solution</a:t>
            </a:r>
            <a:endParaRPr lang="en-US" sz="2200" dirty="0"/>
          </a:p>
        </p:txBody>
      </p:sp>
      <p:sp>
        <p:nvSpPr>
          <p:cNvPr id="3" name="Text 1"/>
          <p:cNvSpPr/>
          <p:nvPr/>
        </p:nvSpPr>
        <p:spPr>
          <a:xfrm>
            <a:off x="837724" y="2054900"/>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Problem Statement</a:t>
            </a:r>
            <a:endParaRPr lang="en-US" sz="4400" dirty="0"/>
          </a:p>
        </p:txBody>
      </p:sp>
      <p:sp>
        <p:nvSpPr>
          <p:cNvPr id="4" name="Text 2"/>
          <p:cNvSpPr/>
          <p:nvPr/>
        </p:nvSpPr>
        <p:spPr>
          <a:xfrm>
            <a:off x="837724" y="3117890"/>
            <a:ext cx="12954952"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Existing platforms often lack robust, integrated escrow and chat encryption, leading to distrust and external communication leakage.</a:t>
            </a:r>
            <a:endParaRPr lang="en-US" sz="1850" dirty="0"/>
          </a:p>
        </p:txBody>
      </p:sp>
      <p:sp>
        <p:nvSpPr>
          <p:cNvPr id="5" name="Text 3"/>
          <p:cNvSpPr/>
          <p:nvPr/>
        </p:nvSpPr>
        <p:spPr>
          <a:xfrm>
            <a:off x="837724" y="3967639"/>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Freelancers struggle with inconsistent payment processing and verification.</a:t>
            </a:r>
            <a:endParaRPr lang="en-US" sz="1850" dirty="0"/>
          </a:p>
        </p:txBody>
      </p:sp>
      <p:sp>
        <p:nvSpPr>
          <p:cNvPr id="6" name="Text 4"/>
          <p:cNvSpPr/>
          <p:nvPr/>
        </p:nvSpPr>
        <p:spPr>
          <a:xfrm>
            <a:off x="837724" y="4709636"/>
            <a:ext cx="7297103"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Our Solution: </a:t>
            </a:r>
            <a:pPr algn="l" indent="0" marL="0">
              <a:lnSpc>
                <a:spcPts val="5500"/>
              </a:lnSpc>
              <a:buNone/>
            </a:pPr>
            <a:r>
              <a:rPr lang="en-US" sz="4400" dirty="0">
                <a:solidFill>
                  <a:srgbClr val="EF9C82"/>
                </a:solidFill>
                <a:latin typeface="Quattrocento" pitchFamily="34" charset="0"/>
                <a:ea typeface="Quattrocento" pitchFamily="34" charset="-122"/>
                <a:cs typeface="Quattrocento" pitchFamily="34" charset="-120"/>
              </a:rPr>
              <a:t>FreelancerHub</a:t>
            </a:r>
            <a:endParaRPr lang="en-US" sz="4400" dirty="0"/>
          </a:p>
        </p:txBody>
      </p:sp>
      <p:sp>
        <p:nvSpPr>
          <p:cNvPr id="7" name="Text 5"/>
          <p:cNvSpPr/>
          <p:nvPr/>
        </p:nvSpPr>
        <p:spPr>
          <a:xfrm>
            <a:off x="837724" y="577262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A unified platform featuring role-based access (Client/Freelancer).</a:t>
            </a:r>
            <a:endParaRPr lang="en-US" sz="1850" dirty="0"/>
          </a:p>
        </p:txBody>
      </p:sp>
      <p:sp>
        <p:nvSpPr>
          <p:cNvPr id="8" name="Text 6"/>
          <p:cNvSpPr/>
          <p:nvPr/>
        </p:nvSpPr>
        <p:spPr>
          <a:xfrm>
            <a:off x="837724" y="623935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Core Value:</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Secure Escrow System with Razorpay integration and transparent transactions.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346835"/>
            <a:ext cx="8305562"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Technical Architecture Overview</a:t>
            </a:r>
            <a:endParaRPr lang="en-US" sz="4400" dirty="0"/>
          </a:p>
        </p:txBody>
      </p:sp>
      <p:sp>
        <p:nvSpPr>
          <p:cNvPr id="3" name="Text 1"/>
          <p:cNvSpPr/>
          <p:nvPr/>
        </p:nvSpPr>
        <p:spPr>
          <a:xfrm>
            <a:off x="837724" y="2146578"/>
            <a:ext cx="4681061"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Full-Stack Architecture</a:t>
            </a:r>
            <a:endParaRPr lang="en-US" sz="3500" dirty="0"/>
          </a:p>
        </p:txBody>
      </p:sp>
      <p:sp>
        <p:nvSpPr>
          <p:cNvPr id="4" name="Shape 2"/>
          <p:cNvSpPr/>
          <p:nvPr/>
        </p:nvSpPr>
        <p:spPr>
          <a:xfrm>
            <a:off x="837724" y="3068836"/>
            <a:ext cx="4158734" cy="1357193"/>
          </a:xfrm>
          <a:prstGeom prst="roundRect">
            <a:avLst>
              <a:gd name="adj" fmla="val 2646"/>
            </a:avLst>
          </a:prstGeom>
          <a:solidFill>
            <a:srgbClr val="315251"/>
          </a:solidFill>
          <a:ln/>
        </p:spPr>
      </p:sp>
      <p:sp>
        <p:nvSpPr>
          <p:cNvPr id="5" name="Text 3"/>
          <p:cNvSpPr/>
          <p:nvPr/>
        </p:nvSpPr>
        <p:spPr>
          <a:xfrm>
            <a:off x="1077039" y="3308152"/>
            <a:ext cx="359854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Frontend (Client/Freelancer)</a:t>
            </a:r>
            <a:endParaRPr lang="en-US" sz="2200" dirty="0"/>
          </a:p>
        </p:txBody>
      </p:sp>
      <p:sp>
        <p:nvSpPr>
          <p:cNvPr id="6" name="Text 4"/>
          <p:cNvSpPr/>
          <p:nvPr/>
        </p:nvSpPr>
        <p:spPr>
          <a:xfrm>
            <a:off x="1077039" y="3803690"/>
            <a:ext cx="3680103"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[React]</a:t>
            </a:r>
            <a:endParaRPr lang="en-US" sz="1850" dirty="0"/>
          </a:p>
        </p:txBody>
      </p:sp>
      <p:sp>
        <p:nvSpPr>
          <p:cNvPr id="7" name="Shape 5"/>
          <p:cNvSpPr/>
          <p:nvPr/>
        </p:nvSpPr>
        <p:spPr>
          <a:xfrm>
            <a:off x="5235773" y="3068836"/>
            <a:ext cx="4158734" cy="1357193"/>
          </a:xfrm>
          <a:prstGeom prst="roundRect">
            <a:avLst>
              <a:gd name="adj" fmla="val 2646"/>
            </a:avLst>
          </a:prstGeom>
          <a:solidFill>
            <a:srgbClr val="315251"/>
          </a:solidFill>
          <a:ln/>
        </p:spPr>
      </p:sp>
      <p:sp>
        <p:nvSpPr>
          <p:cNvPr id="8" name="Text 6"/>
          <p:cNvSpPr/>
          <p:nvPr/>
        </p:nvSpPr>
        <p:spPr>
          <a:xfrm>
            <a:off x="5475089" y="3308152"/>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Backend (API &amp; Logic)</a:t>
            </a:r>
            <a:endParaRPr lang="en-US" sz="2200" dirty="0"/>
          </a:p>
        </p:txBody>
      </p:sp>
      <p:sp>
        <p:nvSpPr>
          <p:cNvPr id="9" name="Text 7"/>
          <p:cNvSpPr/>
          <p:nvPr/>
        </p:nvSpPr>
        <p:spPr>
          <a:xfrm>
            <a:off x="5475089" y="3803690"/>
            <a:ext cx="3680103"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Node.js, Express.js (RESTful APIs)</a:t>
            </a:r>
            <a:endParaRPr lang="en-US" sz="1850" dirty="0"/>
          </a:p>
        </p:txBody>
      </p:sp>
      <p:sp>
        <p:nvSpPr>
          <p:cNvPr id="10" name="Shape 8"/>
          <p:cNvSpPr/>
          <p:nvPr/>
        </p:nvSpPr>
        <p:spPr>
          <a:xfrm>
            <a:off x="9633823" y="3068836"/>
            <a:ext cx="4158853" cy="1357193"/>
          </a:xfrm>
          <a:prstGeom prst="roundRect">
            <a:avLst>
              <a:gd name="adj" fmla="val 2646"/>
            </a:avLst>
          </a:prstGeom>
          <a:solidFill>
            <a:srgbClr val="315251"/>
          </a:solidFill>
          <a:ln/>
        </p:spPr>
      </p:sp>
      <p:sp>
        <p:nvSpPr>
          <p:cNvPr id="11" name="Text 9"/>
          <p:cNvSpPr/>
          <p:nvPr/>
        </p:nvSpPr>
        <p:spPr>
          <a:xfrm>
            <a:off x="9873139" y="3308152"/>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Database (Persistence)</a:t>
            </a:r>
            <a:endParaRPr lang="en-US" sz="2200" dirty="0"/>
          </a:p>
        </p:txBody>
      </p:sp>
      <p:sp>
        <p:nvSpPr>
          <p:cNvPr id="12" name="Text 10"/>
          <p:cNvSpPr/>
          <p:nvPr/>
        </p:nvSpPr>
        <p:spPr>
          <a:xfrm>
            <a:off x="9873139" y="3803690"/>
            <a:ext cx="3680222"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MongoDB (Mongoose)</a:t>
            </a:r>
            <a:endParaRPr lang="en-US" sz="1850" dirty="0"/>
          </a:p>
        </p:txBody>
      </p:sp>
      <p:sp>
        <p:nvSpPr>
          <p:cNvPr id="13" name="Text 11"/>
          <p:cNvSpPr/>
          <p:nvPr/>
        </p:nvSpPr>
        <p:spPr>
          <a:xfrm>
            <a:off x="837724" y="4785003"/>
            <a:ext cx="3379470" cy="422315"/>
          </a:xfrm>
          <a:prstGeom prst="rect">
            <a:avLst/>
          </a:prstGeom>
          <a:noFill/>
          <a:ln/>
        </p:spPr>
        <p:txBody>
          <a:bodyPr wrap="none" lIns="0" tIns="0" rIns="0" bIns="0" rtlCol="0" anchor="t"/>
          <a:lstStyle/>
          <a:p>
            <a:pPr algn="l" indent="0" marL="0">
              <a:lnSpc>
                <a:spcPts val="3300"/>
              </a:lnSpc>
              <a:buNone/>
            </a:pPr>
            <a:r>
              <a:rPr lang="en-US" sz="2650" dirty="0">
                <a:solidFill>
                  <a:srgbClr val="EF9C82"/>
                </a:solidFill>
                <a:latin typeface="Quattrocento" pitchFamily="34" charset="0"/>
                <a:ea typeface="Quattrocento" pitchFamily="34" charset="-122"/>
                <a:cs typeface="Quattrocento" pitchFamily="34" charset="-120"/>
              </a:rPr>
              <a:t>Key External Services:</a:t>
            </a:r>
            <a:endParaRPr lang="en-US" sz="2650" dirty="0"/>
          </a:p>
        </p:txBody>
      </p:sp>
      <p:sp>
        <p:nvSpPr>
          <p:cNvPr id="14" name="Text 12"/>
          <p:cNvSpPr/>
          <p:nvPr/>
        </p:nvSpPr>
        <p:spPr>
          <a:xfrm>
            <a:off x="837724" y="556629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Payments:</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Razorpay Integration</a:t>
            </a:r>
            <a:endParaRPr lang="en-US" sz="1850" dirty="0"/>
          </a:p>
        </p:txBody>
      </p:sp>
      <p:sp>
        <p:nvSpPr>
          <p:cNvPr id="15" name="Text 13"/>
          <p:cNvSpPr/>
          <p:nvPr/>
        </p:nvSpPr>
        <p:spPr>
          <a:xfrm>
            <a:off x="837724" y="603301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File Storage:</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AWS S3 (Profile pictures, Resumes, Project Files)</a:t>
            </a:r>
            <a:endParaRPr lang="en-US" sz="1850" dirty="0"/>
          </a:p>
        </p:txBody>
      </p:sp>
      <p:sp>
        <p:nvSpPr>
          <p:cNvPr id="16" name="Text 14"/>
          <p:cNvSpPr/>
          <p:nvPr/>
        </p:nvSpPr>
        <p:spPr>
          <a:xfrm>
            <a:off x="837724" y="649974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Real-time:</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WebSocket Server (Port 9000)</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787723"/>
            <a:ext cx="12022455"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Core Functionality: Project &amp; Bidding Workflow</a:t>
            </a:r>
            <a:endParaRPr lang="en-US" sz="4400" dirty="0"/>
          </a:p>
        </p:txBody>
      </p:sp>
      <p:sp>
        <p:nvSpPr>
          <p:cNvPr id="3" name="Text 1"/>
          <p:cNvSpPr/>
          <p:nvPr/>
        </p:nvSpPr>
        <p:spPr>
          <a:xfrm>
            <a:off x="837724" y="3090029"/>
            <a:ext cx="4505920"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Client Workflow</a:t>
            </a:r>
            <a:endParaRPr lang="en-US" sz="3500" dirty="0"/>
          </a:p>
        </p:txBody>
      </p:sp>
      <p:sp>
        <p:nvSpPr>
          <p:cNvPr id="4" name="Text 2"/>
          <p:cNvSpPr/>
          <p:nvPr/>
        </p:nvSpPr>
        <p:spPr>
          <a:xfrm>
            <a:off x="837724" y="3892629"/>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Project Creation:</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Defines title, description, budget, deadline, and required skills.</a:t>
            </a:r>
            <a:endParaRPr lang="en-US" sz="1850" dirty="0"/>
          </a:p>
        </p:txBody>
      </p:sp>
      <p:sp>
        <p:nvSpPr>
          <p:cNvPr id="5" name="Text 3"/>
          <p:cNvSpPr/>
          <p:nvPr/>
        </p:nvSpPr>
        <p:spPr>
          <a:xfrm>
            <a:off x="837724" y="4742378"/>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Hiring:</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Views bids, grants resume permission, and initiates the hiring process.</a:t>
            </a:r>
            <a:endParaRPr lang="en-US" sz="1850" dirty="0"/>
          </a:p>
        </p:txBody>
      </p:sp>
      <p:sp>
        <p:nvSpPr>
          <p:cNvPr id="6" name="Text 4"/>
          <p:cNvSpPr/>
          <p:nvPr/>
        </p:nvSpPr>
        <p:spPr>
          <a:xfrm>
            <a:off x="7614761" y="3090029"/>
            <a:ext cx="4505920"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Freelancer Workflow</a:t>
            </a:r>
            <a:endParaRPr lang="en-US" sz="3500" dirty="0"/>
          </a:p>
        </p:txBody>
      </p:sp>
      <p:sp>
        <p:nvSpPr>
          <p:cNvPr id="7" name="Text 5"/>
          <p:cNvSpPr/>
          <p:nvPr/>
        </p:nvSpPr>
        <p:spPr>
          <a:xfrm>
            <a:off x="7614761" y="3892629"/>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Bidding System:</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Submits bids (amount, message, resume permission status).</a:t>
            </a:r>
            <a:endParaRPr lang="en-US" sz="1850" dirty="0"/>
          </a:p>
        </p:txBody>
      </p:sp>
      <p:sp>
        <p:nvSpPr>
          <p:cNvPr id="8" name="Text 6"/>
          <p:cNvSpPr/>
          <p:nvPr/>
        </p:nvSpPr>
        <p:spPr>
          <a:xfrm>
            <a:off x="7614761" y="4742378"/>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Work Management:</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Tracks and updates tasks and project files in the OnGoingProjects collection.</a:t>
            </a:r>
            <a:endParaRPr lang="en-US" sz="1850" dirty="0"/>
          </a:p>
        </p:txBody>
      </p:sp>
      <p:sp>
        <p:nvSpPr>
          <p:cNvPr id="9" name="Text 7"/>
          <p:cNvSpPr/>
          <p:nvPr/>
        </p:nvSpPr>
        <p:spPr>
          <a:xfrm>
            <a:off x="7614761" y="5592128"/>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Status Management:</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Changes project status (e.g., in_progress, completed).</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753070"/>
            <a:ext cx="1183386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Critical Service Deep Dive: Escrow &amp; Payments</a:t>
            </a:r>
            <a:endParaRPr lang="en-US" sz="4400" dirty="0"/>
          </a:p>
        </p:txBody>
      </p:sp>
      <p:sp>
        <p:nvSpPr>
          <p:cNvPr id="3" name="Text 1"/>
          <p:cNvSpPr/>
          <p:nvPr/>
        </p:nvSpPr>
        <p:spPr>
          <a:xfrm>
            <a:off x="837724" y="1552813"/>
            <a:ext cx="7399615"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The Escrow System (Central to Trust)</a:t>
            </a:r>
            <a:endParaRPr lang="en-US" sz="3500" dirty="0"/>
          </a:p>
        </p:txBody>
      </p:sp>
      <p:sp>
        <p:nvSpPr>
          <p:cNvPr id="4" name="Text 2"/>
          <p:cNvSpPr/>
          <p:nvPr/>
        </p:nvSpPr>
        <p:spPr>
          <a:xfrm>
            <a:off x="837724" y="2475071"/>
            <a:ext cx="239316" cy="29920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Light" pitchFamily="34" charset="0"/>
                <a:ea typeface="Quattrocento Light" pitchFamily="34" charset="-122"/>
                <a:cs typeface="Quattrocento Light" pitchFamily="34" charset="-120"/>
              </a:rPr>
              <a:t>01</a:t>
            </a:r>
            <a:endParaRPr lang="en-US" sz="1850" dirty="0"/>
          </a:p>
        </p:txBody>
      </p:sp>
      <p:sp>
        <p:nvSpPr>
          <p:cNvPr id="5" name="Shape 3"/>
          <p:cNvSpPr/>
          <p:nvPr/>
        </p:nvSpPr>
        <p:spPr>
          <a:xfrm>
            <a:off x="837724" y="2851428"/>
            <a:ext cx="6357818" cy="30480"/>
          </a:xfrm>
          <a:prstGeom prst="rect">
            <a:avLst/>
          </a:prstGeom>
          <a:solidFill>
            <a:srgbClr val="EF9C82"/>
          </a:solidFill>
          <a:ln/>
        </p:spPr>
      </p:sp>
      <p:sp>
        <p:nvSpPr>
          <p:cNvPr id="6" name="Text 4"/>
          <p:cNvSpPr/>
          <p:nvPr/>
        </p:nvSpPr>
        <p:spPr>
          <a:xfrm>
            <a:off x="837724" y="3032046"/>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Funding</a:t>
            </a:r>
            <a:endParaRPr lang="en-US" sz="2200" dirty="0"/>
          </a:p>
        </p:txBody>
      </p:sp>
      <p:sp>
        <p:nvSpPr>
          <p:cNvPr id="7" name="Text 5"/>
          <p:cNvSpPr/>
          <p:nvPr/>
        </p:nvSpPr>
        <p:spPr>
          <a:xfrm>
            <a:off x="837724" y="3527584"/>
            <a:ext cx="6357818"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Client uses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Razorpay</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to fund the project amount. Funds are verified and immediately moved to the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Escrow</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account.</a:t>
            </a:r>
            <a:endParaRPr lang="en-US" sz="1850" dirty="0"/>
          </a:p>
        </p:txBody>
      </p:sp>
      <p:sp>
        <p:nvSpPr>
          <p:cNvPr id="8" name="Text 6"/>
          <p:cNvSpPr/>
          <p:nvPr/>
        </p:nvSpPr>
        <p:spPr>
          <a:xfrm>
            <a:off x="7434858" y="2475071"/>
            <a:ext cx="239316" cy="29920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Light" pitchFamily="34" charset="0"/>
                <a:ea typeface="Quattrocento Light" pitchFamily="34" charset="-122"/>
                <a:cs typeface="Quattrocento Light" pitchFamily="34" charset="-120"/>
              </a:rPr>
              <a:t>02</a:t>
            </a:r>
            <a:endParaRPr lang="en-US" sz="1850" dirty="0"/>
          </a:p>
        </p:txBody>
      </p:sp>
      <p:sp>
        <p:nvSpPr>
          <p:cNvPr id="9" name="Shape 7"/>
          <p:cNvSpPr/>
          <p:nvPr/>
        </p:nvSpPr>
        <p:spPr>
          <a:xfrm>
            <a:off x="7434858" y="2851428"/>
            <a:ext cx="6357818" cy="30480"/>
          </a:xfrm>
          <a:prstGeom prst="rect">
            <a:avLst/>
          </a:prstGeom>
          <a:solidFill>
            <a:srgbClr val="EF9C82"/>
          </a:solidFill>
          <a:ln/>
        </p:spPr>
      </p:sp>
      <p:sp>
        <p:nvSpPr>
          <p:cNvPr id="10" name="Text 8"/>
          <p:cNvSpPr/>
          <p:nvPr/>
        </p:nvSpPr>
        <p:spPr>
          <a:xfrm>
            <a:off x="7434858" y="3032046"/>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Release</a:t>
            </a:r>
            <a:endParaRPr lang="en-US" sz="2200" dirty="0"/>
          </a:p>
        </p:txBody>
      </p:sp>
      <p:sp>
        <p:nvSpPr>
          <p:cNvPr id="11" name="Text 9"/>
          <p:cNvSpPr/>
          <p:nvPr/>
        </p:nvSpPr>
        <p:spPr>
          <a:xfrm>
            <a:off x="7434858" y="3527584"/>
            <a:ext cx="6357818"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Upon client approval (Project status completed), funds are transferred from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Escrow</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to the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FreelancerEscrow</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account.</a:t>
            </a:r>
            <a:endParaRPr lang="en-US" sz="1850" dirty="0"/>
          </a:p>
        </p:txBody>
      </p:sp>
      <p:sp>
        <p:nvSpPr>
          <p:cNvPr id="12" name="Text 10"/>
          <p:cNvSpPr/>
          <p:nvPr/>
        </p:nvSpPr>
        <p:spPr>
          <a:xfrm>
            <a:off x="837724" y="5095399"/>
            <a:ext cx="239316" cy="29920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Light" pitchFamily="34" charset="0"/>
                <a:ea typeface="Quattrocento Light" pitchFamily="34" charset="-122"/>
                <a:cs typeface="Quattrocento Light" pitchFamily="34" charset="-120"/>
              </a:rPr>
              <a:t>03</a:t>
            </a:r>
            <a:endParaRPr lang="en-US" sz="1850" dirty="0"/>
          </a:p>
        </p:txBody>
      </p:sp>
      <p:sp>
        <p:nvSpPr>
          <p:cNvPr id="13" name="Shape 11"/>
          <p:cNvSpPr/>
          <p:nvPr/>
        </p:nvSpPr>
        <p:spPr>
          <a:xfrm>
            <a:off x="837724" y="5471755"/>
            <a:ext cx="6357818" cy="30480"/>
          </a:xfrm>
          <a:prstGeom prst="rect">
            <a:avLst/>
          </a:prstGeom>
          <a:solidFill>
            <a:srgbClr val="EF9C82"/>
          </a:solidFill>
          <a:ln/>
        </p:spPr>
      </p:sp>
      <p:sp>
        <p:nvSpPr>
          <p:cNvPr id="14" name="Text 12"/>
          <p:cNvSpPr/>
          <p:nvPr/>
        </p:nvSpPr>
        <p:spPr>
          <a:xfrm>
            <a:off x="837724" y="5652373"/>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Withdrawal</a:t>
            </a:r>
            <a:endParaRPr lang="en-US" sz="2200" dirty="0"/>
          </a:p>
        </p:txBody>
      </p:sp>
      <p:sp>
        <p:nvSpPr>
          <p:cNvPr id="15" name="Text 13"/>
          <p:cNvSpPr/>
          <p:nvPr/>
        </p:nvSpPr>
        <p:spPr>
          <a:xfrm>
            <a:off x="837724" y="6147911"/>
            <a:ext cx="6357818"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Freelancer can request withdrawal from their balance, triggering a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Transaction</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log and initiating the payout process.</a:t>
            </a:r>
            <a:endParaRPr lang="en-US" sz="1850" dirty="0"/>
          </a:p>
        </p:txBody>
      </p:sp>
      <p:sp>
        <p:nvSpPr>
          <p:cNvPr id="16" name="Text 14"/>
          <p:cNvSpPr/>
          <p:nvPr/>
        </p:nvSpPr>
        <p:spPr>
          <a:xfrm>
            <a:off x="7434858" y="5095399"/>
            <a:ext cx="239316" cy="29920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Light" pitchFamily="34" charset="0"/>
                <a:ea typeface="Quattrocento Light" pitchFamily="34" charset="-122"/>
                <a:cs typeface="Quattrocento Light" pitchFamily="34" charset="-120"/>
              </a:rPr>
              <a:t>04</a:t>
            </a:r>
            <a:endParaRPr lang="en-US" sz="1850" dirty="0"/>
          </a:p>
        </p:txBody>
      </p:sp>
      <p:sp>
        <p:nvSpPr>
          <p:cNvPr id="17" name="Shape 15"/>
          <p:cNvSpPr/>
          <p:nvPr/>
        </p:nvSpPr>
        <p:spPr>
          <a:xfrm>
            <a:off x="7434858" y="5471755"/>
            <a:ext cx="6357818" cy="30480"/>
          </a:xfrm>
          <a:prstGeom prst="rect">
            <a:avLst/>
          </a:prstGeom>
          <a:solidFill>
            <a:srgbClr val="EF9C82"/>
          </a:solidFill>
          <a:ln/>
        </p:spPr>
      </p:sp>
      <p:sp>
        <p:nvSpPr>
          <p:cNvPr id="18" name="Text 16"/>
          <p:cNvSpPr/>
          <p:nvPr/>
        </p:nvSpPr>
        <p:spPr>
          <a:xfrm>
            <a:off x="7434858" y="5652373"/>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Refunds</a:t>
            </a:r>
            <a:endParaRPr lang="en-US" sz="2200" dirty="0"/>
          </a:p>
        </p:txBody>
      </p:sp>
      <p:sp>
        <p:nvSpPr>
          <p:cNvPr id="19" name="Text 17"/>
          <p:cNvSpPr/>
          <p:nvPr/>
        </p:nvSpPr>
        <p:spPr>
          <a:xfrm>
            <a:off x="7434858" y="6147911"/>
            <a:ext cx="6357818"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Handles the movement of money back to the client if a project is rejected, logged in the </a:t>
            </a:r>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Refund</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table.</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139190"/>
            <a:ext cx="9004459"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Database Schema &amp; Data Modelling</a:t>
            </a:r>
            <a:endParaRPr lang="en-US" sz="4400" dirty="0"/>
          </a:p>
        </p:txBody>
      </p:sp>
      <p:sp>
        <p:nvSpPr>
          <p:cNvPr id="3" name="Text 1"/>
          <p:cNvSpPr/>
          <p:nvPr/>
        </p:nvSpPr>
        <p:spPr>
          <a:xfrm>
            <a:off x="837724" y="1938933"/>
            <a:ext cx="7479387"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MongoDB Structure (Key Collections)</a:t>
            </a:r>
            <a:endParaRPr lang="en-US" sz="3500" dirty="0"/>
          </a:p>
        </p:txBody>
      </p:sp>
      <p:sp>
        <p:nvSpPr>
          <p:cNvPr id="4" name="Text 2"/>
          <p:cNvSpPr/>
          <p:nvPr/>
        </p:nvSpPr>
        <p:spPr>
          <a:xfrm>
            <a:off x="837724" y="286119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User:</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Stores roles (client/freelancer), authentication details, and status (isBanned, Strikes).</a:t>
            </a:r>
            <a:endParaRPr lang="en-US" sz="1850" dirty="0"/>
          </a:p>
        </p:txBody>
      </p:sp>
      <p:sp>
        <p:nvSpPr>
          <p:cNvPr id="5" name="Text 3"/>
          <p:cNvSpPr/>
          <p:nvPr/>
        </p:nvSpPr>
        <p:spPr>
          <a:xfrm>
            <a:off x="837724" y="332791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Project / OnGoingProjects:</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Defines project details and tracks real-time tasks/file submissions.</a:t>
            </a:r>
            <a:endParaRPr lang="en-US" sz="1850" dirty="0"/>
          </a:p>
        </p:txBody>
      </p:sp>
      <p:sp>
        <p:nvSpPr>
          <p:cNvPr id="6" name="Text 4"/>
          <p:cNvSpPr/>
          <p:nvPr/>
        </p:nvSpPr>
        <p:spPr>
          <a:xfrm>
            <a:off x="837724" y="3794641"/>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Escrow &amp; Transaction:</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Ensures atomicity and tracking of all financial movements.</a:t>
            </a:r>
            <a:endParaRPr lang="en-US" sz="1850" dirty="0"/>
          </a:p>
        </p:txBody>
      </p:sp>
      <p:sp>
        <p:nvSpPr>
          <p:cNvPr id="7" name="Text 5"/>
          <p:cNvSpPr/>
          <p:nvPr/>
        </p:nvSpPr>
        <p:spPr>
          <a:xfrm>
            <a:off x="837724" y="4261366"/>
            <a:ext cx="12954952" cy="383024"/>
          </a:xfrm>
          <a:prstGeom prst="rect">
            <a:avLst/>
          </a:prstGeom>
          <a:noFill/>
          <a:ln/>
        </p:spPr>
        <p:txBody>
          <a:bodyPr wrap="non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Dispute:</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Links clients, freelancers, projects, and the Admin resolver.</a:t>
            </a:r>
            <a:endParaRPr lang="en-US" sz="1850" dirty="0"/>
          </a:p>
        </p:txBody>
      </p:sp>
      <p:sp>
        <p:nvSpPr>
          <p:cNvPr id="8" name="Text 6"/>
          <p:cNvSpPr/>
          <p:nvPr/>
        </p:nvSpPr>
        <p:spPr>
          <a:xfrm>
            <a:off x="837724" y="5003363"/>
            <a:ext cx="3379470" cy="422315"/>
          </a:xfrm>
          <a:prstGeom prst="rect">
            <a:avLst/>
          </a:prstGeom>
          <a:noFill/>
          <a:ln/>
        </p:spPr>
        <p:txBody>
          <a:bodyPr wrap="none" lIns="0" tIns="0" rIns="0" bIns="0" rtlCol="0" anchor="t"/>
          <a:lstStyle/>
          <a:p>
            <a:pPr algn="l" indent="0" marL="0">
              <a:lnSpc>
                <a:spcPts val="3300"/>
              </a:lnSpc>
              <a:buNone/>
            </a:pPr>
            <a:r>
              <a:rPr lang="en-US" sz="2650" dirty="0">
                <a:solidFill>
                  <a:srgbClr val="FFD9BE"/>
                </a:solidFill>
                <a:latin typeface="Quattrocento" pitchFamily="34" charset="0"/>
                <a:ea typeface="Quattrocento" pitchFamily="34" charset="-122"/>
                <a:cs typeface="Quattrocento" pitchFamily="34" charset="-120"/>
              </a:rPr>
              <a:t>Key Relationships</a:t>
            </a:r>
            <a:endParaRPr lang="en-US" sz="2650" dirty="0"/>
          </a:p>
        </p:txBody>
      </p:sp>
      <p:sp>
        <p:nvSpPr>
          <p:cNvPr id="9" name="Shape 7"/>
          <p:cNvSpPr/>
          <p:nvPr/>
        </p:nvSpPr>
        <p:spPr>
          <a:xfrm>
            <a:off x="837724" y="5784652"/>
            <a:ext cx="4158734" cy="1305639"/>
          </a:xfrm>
          <a:prstGeom prst="roundRect">
            <a:avLst>
              <a:gd name="adj" fmla="val 2750"/>
            </a:avLst>
          </a:prstGeom>
          <a:solidFill>
            <a:srgbClr val="123332"/>
          </a:solidFill>
          <a:ln w="30480">
            <a:solidFill>
              <a:srgbClr val="4A6B6A"/>
            </a:solidFill>
            <a:prstDash val="solid"/>
          </a:ln>
        </p:spPr>
      </p:sp>
      <p:sp>
        <p:nvSpPr>
          <p:cNvPr id="10" name="Text 8"/>
          <p:cNvSpPr/>
          <p:nvPr/>
        </p:nvSpPr>
        <p:spPr>
          <a:xfrm>
            <a:off x="1107519" y="6054447"/>
            <a:ext cx="361914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1:M relationship between Project and Bid.</a:t>
            </a:r>
            <a:endParaRPr lang="en-US" sz="1850" dirty="0"/>
          </a:p>
        </p:txBody>
      </p:sp>
      <p:sp>
        <p:nvSpPr>
          <p:cNvPr id="11" name="Shape 9"/>
          <p:cNvSpPr/>
          <p:nvPr/>
        </p:nvSpPr>
        <p:spPr>
          <a:xfrm>
            <a:off x="5235773" y="5784652"/>
            <a:ext cx="4158734" cy="1305639"/>
          </a:xfrm>
          <a:prstGeom prst="roundRect">
            <a:avLst>
              <a:gd name="adj" fmla="val 2750"/>
            </a:avLst>
          </a:prstGeom>
          <a:solidFill>
            <a:srgbClr val="123332"/>
          </a:solidFill>
          <a:ln w="30480">
            <a:solidFill>
              <a:srgbClr val="4A6B6A"/>
            </a:solidFill>
            <a:prstDash val="solid"/>
          </a:ln>
        </p:spPr>
      </p:sp>
      <p:sp>
        <p:nvSpPr>
          <p:cNvPr id="12" name="Text 10"/>
          <p:cNvSpPr/>
          <p:nvPr/>
        </p:nvSpPr>
        <p:spPr>
          <a:xfrm>
            <a:off x="5505569" y="6054447"/>
            <a:ext cx="361914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1:1 relationship (conceptual) between Project and Escrow.</a:t>
            </a:r>
            <a:endParaRPr lang="en-US" sz="1850" dirty="0"/>
          </a:p>
        </p:txBody>
      </p:sp>
      <p:sp>
        <p:nvSpPr>
          <p:cNvPr id="13" name="Shape 11"/>
          <p:cNvSpPr/>
          <p:nvPr/>
        </p:nvSpPr>
        <p:spPr>
          <a:xfrm>
            <a:off x="9633823" y="5784652"/>
            <a:ext cx="4158853" cy="1305639"/>
          </a:xfrm>
          <a:prstGeom prst="roundRect">
            <a:avLst>
              <a:gd name="adj" fmla="val 2750"/>
            </a:avLst>
          </a:prstGeom>
          <a:solidFill>
            <a:srgbClr val="123332"/>
          </a:solidFill>
          <a:ln w="30480">
            <a:solidFill>
              <a:srgbClr val="4A6B6A"/>
            </a:solidFill>
            <a:prstDash val="solid"/>
          </a:ln>
        </p:spPr>
      </p:sp>
      <p:sp>
        <p:nvSpPr>
          <p:cNvPr id="14" name="Text 12"/>
          <p:cNvSpPr/>
          <p:nvPr/>
        </p:nvSpPr>
        <p:spPr>
          <a:xfrm>
            <a:off x="9903619" y="6054447"/>
            <a:ext cx="3619262"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M:M relationship managed by Chat (linking two User IDs).</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362789"/>
            <a:ext cx="10186035"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Security and Real-Time Communication</a:t>
            </a:r>
            <a:endParaRPr lang="en-US" sz="4400" dirty="0"/>
          </a:p>
        </p:txBody>
      </p:sp>
      <p:sp>
        <p:nvSpPr>
          <p:cNvPr id="3" name="Text 1"/>
          <p:cNvSpPr/>
          <p:nvPr/>
        </p:nvSpPr>
        <p:spPr>
          <a:xfrm>
            <a:off x="837724" y="2665095"/>
            <a:ext cx="5066348"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Security Implementation</a:t>
            </a:r>
            <a:endParaRPr lang="en-US" sz="3500" dirty="0"/>
          </a:p>
        </p:txBody>
      </p:sp>
      <p:sp>
        <p:nvSpPr>
          <p:cNvPr id="4" name="Text 2"/>
          <p:cNvSpPr/>
          <p:nvPr/>
        </p:nvSpPr>
        <p:spPr>
          <a:xfrm>
            <a:off x="837724" y="3467695"/>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Authentication:</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JWT (JSON Web Tokens) stored in httpOnly cookies.</a:t>
            </a:r>
            <a:endParaRPr lang="en-US" sz="1850" dirty="0"/>
          </a:p>
        </p:txBody>
      </p:sp>
      <p:sp>
        <p:nvSpPr>
          <p:cNvPr id="5" name="Text 3"/>
          <p:cNvSpPr/>
          <p:nvPr/>
        </p:nvSpPr>
        <p:spPr>
          <a:xfrm>
            <a:off x="837724" y="4317444"/>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Password Hashing:</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bcrypt with a high salt rounds (13) for user passwords.</a:t>
            </a:r>
            <a:endParaRPr lang="en-US" sz="1850" dirty="0"/>
          </a:p>
        </p:txBody>
      </p:sp>
      <p:sp>
        <p:nvSpPr>
          <p:cNvPr id="6" name="Text 4"/>
          <p:cNvSpPr/>
          <p:nvPr/>
        </p:nvSpPr>
        <p:spPr>
          <a:xfrm>
            <a:off x="837724" y="516719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Sensitive Data:</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XOR encryption used for initial login email/password submission.</a:t>
            </a:r>
            <a:endParaRPr lang="en-US" sz="1850" dirty="0"/>
          </a:p>
        </p:txBody>
      </p:sp>
      <p:sp>
        <p:nvSpPr>
          <p:cNvPr id="7" name="Text 5"/>
          <p:cNvSpPr/>
          <p:nvPr/>
        </p:nvSpPr>
        <p:spPr>
          <a:xfrm>
            <a:off x="837724" y="601694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Middleware:</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Checks for sensitive information in chat messages (strike system).</a:t>
            </a:r>
            <a:endParaRPr lang="en-US" sz="1850" dirty="0"/>
          </a:p>
        </p:txBody>
      </p:sp>
      <p:sp>
        <p:nvSpPr>
          <p:cNvPr id="8" name="Text 6"/>
          <p:cNvSpPr/>
          <p:nvPr/>
        </p:nvSpPr>
        <p:spPr>
          <a:xfrm>
            <a:off x="7614761" y="2665095"/>
            <a:ext cx="4505920"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Real-Time Chat</a:t>
            </a:r>
            <a:endParaRPr lang="en-US" sz="3500" dirty="0"/>
          </a:p>
        </p:txBody>
      </p:sp>
      <p:sp>
        <p:nvSpPr>
          <p:cNvPr id="9" name="Text 7"/>
          <p:cNvSpPr/>
          <p:nvPr/>
        </p:nvSpPr>
        <p:spPr>
          <a:xfrm>
            <a:off x="7614761" y="3467695"/>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Technology:</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Dedicated WebSocket server (Port 9000).</a:t>
            </a:r>
            <a:endParaRPr lang="en-US" sz="1850" dirty="0"/>
          </a:p>
        </p:txBody>
      </p:sp>
      <p:sp>
        <p:nvSpPr>
          <p:cNvPr id="10" name="Text 8"/>
          <p:cNvSpPr/>
          <p:nvPr/>
        </p:nvSpPr>
        <p:spPr>
          <a:xfrm>
            <a:off x="7614761" y="4317444"/>
            <a:ext cx="6185535" cy="2298144"/>
          </a:xfrm>
          <a:prstGeom prst="rect">
            <a:avLst/>
          </a:prstGeom>
          <a:noFill/>
          <a:ln/>
        </p:spPr>
        <p:txBody>
          <a:bodyPr wrap="square" lIns="0" tIns="0" rIns="0" bIns="0" rtlCol="0" anchor="t"/>
          <a:lstStyle/>
          <a:p>
            <a:pPr algn="l" marL="342900" indent="-342900">
              <a:lnSpc>
                <a:spcPts val="3000"/>
              </a:lnSpc>
              <a:buSzPct val="100000"/>
              <a:buChar char="•"/>
            </a:pPr>
            <a:r>
              <a:rPr lang="en-US" sz="1850" b="1" dirty="0">
                <a:solidFill>
                  <a:srgbClr val="F9EEE7"/>
                </a:solidFill>
                <a:latin typeface="Quattrocento" pitchFamily="34" charset="0"/>
                <a:ea typeface="Quattrocento" pitchFamily="34" charset="-122"/>
                <a:cs typeface="Quattrocento" pitchFamily="34" charset="-120"/>
              </a:rPr>
              <a:t>Data Protection:</a:t>
            </a:r>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 Files shared via WebRTC are sent directly between users without passing through our servers or being stored by us. For all other transfer paths, files are never kept on the server and remain inaccessible to us at every stage, ensuring full privacy between the sender and receiver.</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995839"/>
            <a:ext cx="941451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Development Challenges &amp; Solutions</a:t>
            </a:r>
            <a:endParaRPr lang="en-US" sz="4400" dirty="0"/>
          </a:p>
        </p:txBody>
      </p:sp>
      <p:sp>
        <p:nvSpPr>
          <p:cNvPr id="3" name="Shape 1"/>
          <p:cNvSpPr/>
          <p:nvPr/>
        </p:nvSpPr>
        <p:spPr>
          <a:xfrm>
            <a:off x="837724" y="2178606"/>
            <a:ext cx="12954952" cy="5055156"/>
          </a:xfrm>
          <a:prstGeom prst="roundRect">
            <a:avLst>
              <a:gd name="adj" fmla="val 710"/>
            </a:avLst>
          </a:prstGeom>
          <a:noFill/>
          <a:ln w="7620">
            <a:solidFill>
              <a:srgbClr val="FFFFFF">
                <a:alpha val="24000"/>
              </a:srgbClr>
            </a:solidFill>
            <a:prstDash val="solid"/>
          </a:ln>
        </p:spPr>
      </p:sp>
      <p:sp>
        <p:nvSpPr>
          <p:cNvPr id="4" name="Shape 2"/>
          <p:cNvSpPr/>
          <p:nvPr/>
        </p:nvSpPr>
        <p:spPr>
          <a:xfrm>
            <a:off x="845344" y="2186226"/>
            <a:ext cx="12939713" cy="685443"/>
          </a:xfrm>
          <a:prstGeom prst="rect">
            <a:avLst/>
          </a:prstGeom>
          <a:solidFill>
            <a:srgbClr val="FFFFFF">
              <a:alpha val="4000"/>
            </a:srgbClr>
          </a:solidFill>
          <a:ln/>
        </p:spPr>
      </p:sp>
      <p:sp>
        <p:nvSpPr>
          <p:cNvPr id="5" name="Text 3"/>
          <p:cNvSpPr/>
          <p:nvPr/>
        </p:nvSpPr>
        <p:spPr>
          <a:xfrm>
            <a:off x="1084659" y="2337435"/>
            <a:ext cx="5987415"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Challenge</a:t>
            </a:r>
            <a:endParaRPr lang="en-US" sz="1850" dirty="0"/>
          </a:p>
        </p:txBody>
      </p:sp>
      <p:sp>
        <p:nvSpPr>
          <p:cNvPr id="6" name="Text 4"/>
          <p:cNvSpPr/>
          <p:nvPr/>
        </p:nvSpPr>
        <p:spPr>
          <a:xfrm>
            <a:off x="7558326" y="2337435"/>
            <a:ext cx="5987415"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Solution Implemented</a:t>
            </a:r>
            <a:endParaRPr lang="en-US" sz="1850" dirty="0"/>
          </a:p>
        </p:txBody>
      </p:sp>
      <p:sp>
        <p:nvSpPr>
          <p:cNvPr id="7" name="Shape 5"/>
          <p:cNvSpPr/>
          <p:nvPr/>
        </p:nvSpPr>
        <p:spPr>
          <a:xfrm>
            <a:off x="845344" y="2871668"/>
            <a:ext cx="12939713" cy="1451491"/>
          </a:xfrm>
          <a:prstGeom prst="rect">
            <a:avLst/>
          </a:prstGeom>
          <a:solidFill>
            <a:srgbClr val="000000">
              <a:alpha val="4000"/>
            </a:srgbClr>
          </a:solidFill>
          <a:ln/>
        </p:spPr>
      </p:sp>
      <p:sp>
        <p:nvSpPr>
          <p:cNvPr id="8" name="Text 6"/>
          <p:cNvSpPr/>
          <p:nvPr/>
        </p:nvSpPr>
        <p:spPr>
          <a:xfrm>
            <a:off x="1084659" y="3022878"/>
            <a:ext cx="5987415"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Handling Asynchronous Financial States</a:t>
            </a:r>
            <a:endParaRPr lang="en-US" sz="1850" dirty="0"/>
          </a:p>
        </p:txBody>
      </p:sp>
      <p:sp>
        <p:nvSpPr>
          <p:cNvPr id="9" name="Text 7"/>
          <p:cNvSpPr/>
          <p:nvPr/>
        </p:nvSpPr>
        <p:spPr>
          <a:xfrm>
            <a:off x="7558326" y="3022878"/>
            <a:ext cx="5987415"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Developed atomic Escrow logic ensuring funds are never lost (funded -&gt; released/refunded). Utilised Razorpay webhooks for payment verification.</a:t>
            </a:r>
            <a:endParaRPr lang="en-US" sz="1850" dirty="0"/>
          </a:p>
        </p:txBody>
      </p:sp>
      <p:sp>
        <p:nvSpPr>
          <p:cNvPr id="10" name="Shape 8"/>
          <p:cNvSpPr/>
          <p:nvPr/>
        </p:nvSpPr>
        <p:spPr>
          <a:xfrm>
            <a:off x="845344" y="4323159"/>
            <a:ext cx="12939713" cy="1451491"/>
          </a:xfrm>
          <a:prstGeom prst="rect">
            <a:avLst/>
          </a:prstGeom>
          <a:solidFill>
            <a:srgbClr val="FFFFFF">
              <a:alpha val="4000"/>
            </a:srgbClr>
          </a:solidFill>
          <a:ln/>
        </p:spPr>
      </p:sp>
      <p:sp>
        <p:nvSpPr>
          <p:cNvPr id="11" name="Text 9"/>
          <p:cNvSpPr/>
          <p:nvPr/>
        </p:nvSpPr>
        <p:spPr>
          <a:xfrm>
            <a:off x="1084659" y="4474369"/>
            <a:ext cx="5987415"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Secure File Handling</a:t>
            </a:r>
            <a:endParaRPr lang="en-US" sz="1850" dirty="0"/>
          </a:p>
        </p:txBody>
      </p:sp>
      <p:sp>
        <p:nvSpPr>
          <p:cNvPr id="12" name="Text 10"/>
          <p:cNvSpPr/>
          <p:nvPr/>
        </p:nvSpPr>
        <p:spPr>
          <a:xfrm>
            <a:off x="7558326" y="4474369"/>
            <a:ext cx="5987415"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Used AWS S3 signed URLs for file access (/profile-picture endpoint), preventing direct public access to sensitive files.</a:t>
            </a:r>
            <a:endParaRPr lang="en-US" sz="1850" dirty="0"/>
          </a:p>
        </p:txBody>
      </p:sp>
      <p:sp>
        <p:nvSpPr>
          <p:cNvPr id="13" name="Shape 11"/>
          <p:cNvSpPr/>
          <p:nvPr/>
        </p:nvSpPr>
        <p:spPr>
          <a:xfrm>
            <a:off x="845344" y="5774650"/>
            <a:ext cx="12939713" cy="1451491"/>
          </a:xfrm>
          <a:prstGeom prst="rect">
            <a:avLst/>
          </a:prstGeom>
          <a:solidFill>
            <a:srgbClr val="000000">
              <a:alpha val="4000"/>
            </a:srgbClr>
          </a:solidFill>
          <a:ln/>
        </p:spPr>
      </p:sp>
      <p:sp>
        <p:nvSpPr>
          <p:cNvPr id="14" name="Text 12"/>
          <p:cNvSpPr/>
          <p:nvPr/>
        </p:nvSpPr>
        <p:spPr>
          <a:xfrm>
            <a:off x="1084659" y="5925860"/>
            <a:ext cx="5987415" cy="383024"/>
          </a:xfrm>
          <a:prstGeom prst="rect">
            <a:avLst/>
          </a:prstGeom>
          <a:noFill/>
          <a:ln/>
        </p:spPr>
        <p:txBody>
          <a:bodyPr wrap="none" lIns="0" tIns="0" rIns="0" bIns="0" rtlCol="0" anchor="t"/>
          <a:lstStyle/>
          <a:p>
            <a:pPr algn="l" indent="0" marL="0">
              <a:lnSpc>
                <a:spcPts val="3000"/>
              </a:lnSpc>
              <a:buNone/>
            </a:pPr>
            <a:r>
              <a:rPr lang="en-US" sz="1850" b="1" dirty="0">
                <a:solidFill>
                  <a:srgbClr val="F9EEE7"/>
                </a:solidFill>
                <a:latin typeface="Quattrocento" pitchFamily="34" charset="0"/>
                <a:ea typeface="Quattrocento" pitchFamily="34" charset="-122"/>
                <a:cs typeface="Quattrocento" pitchFamily="34" charset="-120"/>
              </a:rPr>
              <a:t>Preventing Spam/Toxicity</a:t>
            </a:r>
            <a:endParaRPr lang="en-US" sz="1850" dirty="0"/>
          </a:p>
        </p:txBody>
      </p:sp>
      <p:sp>
        <p:nvSpPr>
          <p:cNvPr id="15" name="Text 13"/>
          <p:cNvSpPr/>
          <p:nvPr/>
        </p:nvSpPr>
        <p:spPr>
          <a:xfrm>
            <a:off x="7558326" y="5925860"/>
            <a:ext cx="5987415"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Implemented the checkSensitiveInfo middleware in chat, issuing Strikes and enabling auto-banning (isBanned).</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362789"/>
            <a:ext cx="7504748"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Project Status &amp; Future Scope</a:t>
            </a:r>
            <a:endParaRPr lang="en-US" sz="4400" dirty="0"/>
          </a:p>
        </p:txBody>
      </p:sp>
      <p:sp>
        <p:nvSpPr>
          <p:cNvPr id="3" name="Text 1"/>
          <p:cNvSpPr/>
          <p:nvPr/>
        </p:nvSpPr>
        <p:spPr>
          <a:xfrm>
            <a:off x="837724" y="2665095"/>
            <a:ext cx="4505920"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Current Status</a:t>
            </a:r>
            <a:endParaRPr lang="en-US" sz="3500" dirty="0"/>
          </a:p>
        </p:txBody>
      </p:sp>
      <p:sp>
        <p:nvSpPr>
          <p:cNvPr id="4" name="Text 2"/>
          <p:cNvSpPr/>
          <p:nvPr/>
        </p:nvSpPr>
        <p:spPr>
          <a:xfrm>
            <a:off x="837724" y="3467695"/>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Core authentication (Client/Freelancer/Admin) is functional.</a:t>
            </a:r>
            <a:endParaRPr lang="en-US" sz="1850" dirty="0"/>
          </a:p>
        </p:txBody>
      </p:sp>
      <p:sp>
        <p:nvSpPr>
          <p:cNvPr id="5" name="Text 3"/>
          <p:cNvSpPr/>
          <p:nvPr/>
        </p:nvSpPr>
        <p:spPr>
          <a:xfrm>
            <a:off x="837724" y="4317444"/>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End-to-end Bidding, Escrow, and Payment verification (Razorpay) are implemented.</a:t>
            </a:r>
            <a:endParaRPr lang="en-US" sz="1850" dirty="0"/>
          </a:p>
        </p:txBody>
      </p:sp>
      <p:sp>
        <p:nvSpPr>
          <p:cNvPr id="6" name="Text 4"/>
          <p:cNvSpPr/>
          <p:nvPr/>
        </p:nvSpPr>
        <p:spPr>
          <a:xfrm>
            <a:off x="837724" y="5298877"/>
            <a:ext cx="6185535" cy="383024"/>
          </a:xfrm>
          <a:prstGeom prst="rect">
            <a:avLst/>
          </a:prstGeom>
          <a:noFill/>
          <a:ln/>
        </p:spPr>
        <p:txBody>
          <a:bodyPr wrap="none" lIns="0" tIns="0" rIns="0" bIns="0" rtlCol="0" anchor="t"/>
          <a:lstStyle/>
          <a:p>
            <a:pPr algn="l" indent="0" marL="0">
              <a:lnSpc>
                <a:spcPts val="3000"/>
              </a:lnSpc>
              <a:buNone/>
            </a:pPr>
            <a:endParaRPr lang="en-US" sz="1850" dirty="0"/>
          </a:p>
        </p:txBody>
      </p:sp>
      <p:sp>
        <p:nvSpPr>
          <p:cNvPr id="7" name="Text 5"/>
          <p:cNvSpPr/>
          <p:nvPr/>
        </p:nvSpPr>
        <p:spPr>
          <a:xfrm>
            <a:off x="7614761" y="2665095"/>
            <a:ext cx="4505920" cy="563285"/>
          </a:xfrm>
          <a:prstGeom prst="rect">
            <a:avLst/>
          </a:prstGeom>
          <a:noFill/>
          <a:ln/>
        </p:spPr>
        <p:txBody>
          <a:bodyPr wrap="none" lIns="0" tIns="0" rIns="0" bIns="0" rtlCol="0" anchor="t"/>
          <a:lstStyle/>
          <a:p>
            <a:pPr algn="l" indent="0" marL="0">
              <a:lnSpc>
                <a:spcPts val="4400"/>
              </a:lnSpc>
              <a:buNone/>
            </a:pPr>
            <a:r>
              <a:rPr lang="en-US" sz="3500" dirty="0">
                <a:solidFill>
                  <a:srgbClr val="EF9C82"/>
                </a:solidFill>
                <a:latin typeface="Quattrocento" pitchFamily="34" charset="0"/>
                <a:ea typeface="Quattrocento" pitchFamily="34" charset="-122"/>
                <a:cs typeface="Quattrocento" pitchFamily="34" charset="-120"/>
              </a:rPr>
              <a:t>Future Enhancements</a:t>
            </a:r>
            <a:endParaRPr lang="en-US" sz="3500" dirty="0"/>
          </a:p>
        </p:txBody>
      </p:sp>
      <p:sp>
        <p:nvSpPr>
          <p:cNvPr id="8" name="Text 6"/>
          <p:cNvSpPr/>
          <p:nvPr/>
        </p:nvSpPr>
        <p:spPr>
          <a:xfrm>
            <a:off x="7614761" y="3467695"/>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Integrate a video/voice call feature via WebRTC over the existing WebSocket layer.</a:t>
            </a:r>
            <a:endParaRPr lang="en-US" sz="1850" dirty="0"/>
          </a:p>
        </p:txBody>
      </p:sp>
      <p:sp>
        <p:nvSpPr>
          <p:cNvPr id="9" name="Text 7"/>
          <p:cNvSpPr/>
          <p:nvPr/>
        </p:nvSpPr>
        <p:spPr>
          <a:xfrm>
            <a:off x="7614761" y="4317444"/>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Implement AI-powered proposal scoring for freelancers.</a:t>
            </a:r>
            <a:endParaRPr lang="en-US" sz="1850" dirty="0"/>
          </a:p>
        </p:txBody>
      </p:sp>
      <p:sp>
        <p:nvSpPr>
          <p:cNvPr id="10" name="Text 8"/>
          <p:cNvSpPr/>
          <p:nvPr/>
        </p:nvSpPr>
        <p:spPr>
          <a:xfrm>
            <a:off x="7614761" y="516719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Introduce detailed analytics dashboards for Admin and Client roles.</a:t>
            </a:r>
            <a:endParaRPr lang="en-US" sz="1850" dirty="0"/>
          </a:p>
        </p:txBody>
      </p:sp>
      <p:sp>
        <p:nvSpPr>
          <p:cNvPr id="11" name="Text 9"/>
          <p:cNvSpPr/>
          <p:nvPr/>
        </p:nvSpPr>
        <p:spPr>
          <a:xfrm>
            <a:off x="7614761" y="6016943"/>
            <a:ext cx="6185535" cy="766048"/>
          </a:xfrm>
          <a:prstGeom prst="rect">
            <a:avLst/>
          </a:prstGeom>
          <a:noFill/>
          <a:ln/>
        </p:spPr>
        <p:txBody>
          <a:bodyPr wrap="square" lIns="0" tIns="0" rIns="0" bIns="0" rtlCol="0" anchor="t"/>
          <a:lstStyle/>
          <a:p>
            <a:pPr algn="l" marL="342900" indent="-342900">
              <a:lnSpc>
                <a:spcPts val="3000"/>
              </a:lnSpc>
              <a:buSzPct val="100000"/>
              <a:buChar char="•"/>
            </a:pPr>
            <a:r>
              <a:rPr lang="en-US" sz="1850" dirty="0">
                <a:solidFill>
                  <a:srgbClr val="F9EEE7"/>
                </a:solidFill>
                <a:latin typeface="Quattrocento" pitchFamily="34" charset="0"/>
                <a:ea typeface="Quattrocento" pitchFamily="34" charset="-122"/>
                <a:cs typeface="Quattrocento" pitchFamily="34" charset="-120"/>
              </a:rPr>
              <a:t>Secure Chat with AES-256-GCM encryption is operational.</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0104" y="653296"/>
            <a:ext cx="5580817" cy="697468"/>
          </a:xfrm>
          <a:prstGeom prst="rect">
            <a:avLst/>
          </a:prstGeom>
          <a:noFill/>
          <a:ln/>
        </p:spPr>
        <p:txBody>
          <a:bodyPr wrap="none" lIns="0" tIns="0" rIns="0" bIns="0" rtlCol="0" anchor="t"/>
          <a:lstStyle/>
          <a:p>
            <a:pPr algn="l" indent="0" marL="0">
              <a:lnSpc>
                <a:spcPts val="5450"/>
              </a:lnSpc>
              <a:buNone/>
            </a:pPr>
            <a:r>
              <a:rPr lang="en-US" sz="4350" dirty="0">
                <a:solidFill>
                  <a:srgbClr val="FFD9BE"/>
                </a:solidFill>
                <a:latin typeface="Quattrocento" pitchFamily="34" charset="0"/>
                <a:ea typeface="Quattrocento" pitchFamily="34" charset="-122"/>
                <a:cs typeface="Quattrocento" pitchFamily="34" charset="-120"/>
              </a:rPr>
              <a:t>Conclusion &amp; Q&amp;A</a:t>
            </a:r>
            <a:endParaRPr lang="en-US" sz="4350" dirty="0"/>
          </a:p>
        </p:txBody>
      </p:sp>
      <p:sp>
        <p:nvSpPr>
          <p:cNvPr id="3" name="Text 1"/>
          <p:cNvSpPr/>
          <p:nvPr/>
        </p:nvSpPr>
        <p:spPr>
          <a:xfrm>
            <a:off x="830104" y="1445538"/>
            <a:ext cx="4464606" cy="558046"/>
          </a:xfrm>
          <a:prstGeom prst="rect">
            <a:avLst/>
          </a:prstGeom>
          <a:noFill/>
          <a:ln/>
        </p:spPr>
        <p:txBody>
          <a:bodyPr wrap="none" lIns="0" tIns="0" rIns="0" bIns="0" rtlCol="0" anchor="t"/>
          <a:lstStyle/>
          <a:p>
            <a:pPr algn="l" indent="0" marL="0">
              <a:lnSpc>
                <a:spcPts val="4350"/>
              </a:lnSpc>
              <a:buNone/>
            </a:pPr>
            <a:r>
              <a:rPr lang="en-US" sz="3500" dirty="0">
                <a:solidFill>
                  <a:srgbClr val="EF9C82"/>
                </a:solidFill>
                <a:latin typeface="Quattrocento" pitchFamily="34" charset="0"/>
                <a:ea typeface="Quattrocento" pitchFamily="34" charset="-122"/>
                <a:cs typeface="Quattrocento" pitchFamily="34" charset="-120"/>
              </a:rPr>
              <a:t>Summary</a:t>
            </a:r>
            <a:endParaRPr lang="en-US" sz="3500" dirty="0"/>
          </a:p>
        </p:txBody>
      </p:sp>
      <p:sp>
        <p:nvSpPr>
          <p:cNvPr id="4" name="Text 2"/>
          <p:cNvSpPr/>
          <p:nvPr/>
        </p:nvSpPr>
        <p:spPr>
          <a:xfrm>
            <a:off x="830104" y="2359343"/>
            <a:ext cx="12970193" cy="758904"/>
          </a:xfrm>
          <a:prstGeom prst="rect">
            <a:avLst/>
          </a:prstGeom>
          <a:noFill/>
          <a:ln/>
        </p:spPr>
        <p:txBody>
          <a:bodyPr wrap="square" lIns="0" tIns="0" rIns="0" bIns="0" rtlCol="0" anchor="t"/>
          <a:lstStyle/>
          <a:p>
            <a:pPr algn="l" indent="0" marL="0">
              <a:lnSpc>
                <a:spcPts val="2950"/>
              </a:lnSpc>
              <a:buNone/>
            </a:pPr>
            <a:r>
              <a:rPr lang="en-US" sz="1850" dirty="0">
                <a:solidFill>
                  <a:srgbClr val="F9EEE7"/>
                </a:solidFill>
                <a:latin typeface="Quattrocento" pitchFamily="34" charset="0"/>
                <a:ea typeface="Quattrocento" pitchFamily="34" charset="-122"/>
                <a:cs typeface="Quattrocento" pitchFamily="34" charset="-120"/>
              </a:rPr>
              <a:t>FreelancerHub successfully delivered a secure, feature-rich platform by integrating robust authentication, a transparent financial escrow system, and state-of-the-art real-time communication.</a:t>
            </a:r>
            <a:endParaRPr lang="en-US" sz="1850" dirty="0"/>
          </a:p>
        </p:txBody>
      </p:sp>
      <p:sp>
        <p:nvSpPr>
          <p:cNvPr id="5" name="Text 3"/>
          <p:cNvSpPr/>
          <p:nvPr/>
        </p:nvSpPr>
        <p:spPr>
          <a:xfrm>
            <a:off x="830104" y="3474006"/>
            <a:ext cx="3348395" cy="418505"/>
          </a:xfrm>
          <a:prstGeom prst="rect">
            <a:avLst/>
          </a:prstGeom>
          <a:noFill/>
          <a:ln/>
        </p:spPr>
        <p:txBody>
          <a:bodyPr wrap="none" lIns="0" tIns="0" rIns="0" bIns="0" rtlCol="0" anchor="t"/>
          <a:lstStyle/>
          <a:p>
            <a:pPr algn="l" indent="0" marL="0">
              <a:lnSpc>
                <a:spcPts val="3250"/>
              </a:lnSpc>
              <a:buNone/>
            </a:pPr>
            <a:r>
              <a:rPr lang="en-US" sz="2600" dirty="0">
                <a:solidFill>
                  <a:srgbClr val="FFFFFF"/>
                </a:solidFill>
                <a:latin typeface="Quattrocento" pitchFamily="34" charset="0"/>
                <a:ea typeface="Quattrocento" pitchFamily="34" charset="-122"/>
                <a:cs typeface="Quattrocento" pitchFamily="34" charset="-120"/>
              </a:rPr>
              <a:t>Key Takeaways</a:t>
            </a:r>
            <a:endParaRPr lang="en-US" sz="2600" dirty="0"/>
          </a:p>
        </p:txBody>
      </p:sp>
      <p:sp>
        <p:nvSpPr>
          <p:cNvPr id="6" name="Text 4"/>
          <p:cNvSpPr/>
          <p:nvPr/>
        </p:nvSpPr>
        <p:spPr>
          <a:xfrm>
            <a:off x="830104" y="4248269"/>
            <a:ext cx="12970193" cy="379452"/>
          </a:xfrm>
          <a:prstGeom prst="rect">
            <a:avLst/>
          </a:prstGeom>
          <a:noFill/>
          <a:ln/>
        </p:spPr>
        <p:txBody>
          <a:bodyPr wrap="none" lIns="0" tIns="0" rIns="0" bIns="0" rtlCol="0" anchor="t"/>
          <a:lstStyle/>
          <a:p>
            <a:pPr algn="l" marL="342900" indent="-342900">
              <a:lnSpc>
                <a:spcPts val="2950"/>
              </a:lnSpc>
              <a:buSzPct val="100000"/>
              <a:buChar char="•"/>
            </a:pPr>
            <a:r>
              <a:rPr lang="en-US" sz="1850" dirty="0">
                <a:solidFill>
                  <a:srgbClr val="F9EEE7"/>
                </a:solidFill>
                <a:latin typeface="Quattrocento" pitchFamily="34" charset="0"/>
                <a:ea typeface="Quattrocento" pitchFamily="34" charset="-122"/>
                <a:cs typeface="Quattrocento" pitchFamily="34" charset="-120"/>
              </a:rPr>
              <a:t>The complexity of third-party payment integration requires rigorous error handling and state management.</a:t>
            </a:r>
            <a:endParaRPr lang="en-US" sz="1850" dirty="0"/>
          </a:p>
        </p:txBody>
      </p:sp>
      <p:sp>
        <p:nvSpPr>
          <p:cNvPr id="7" name="Text 5"/>
          <p:cNvSpPr/>
          <p:nvPr/>
        </p:nvSpPr>
        <p:spPr>
          <a:xfrm>
            <a:off x="830104" y="4710708"/>
            <a:ext cx="12970193" cy="379452"/>
          </a:xfrm>
          <a:prstGeom prst="rect">
            <a:avLst/>
          </a:prstGeom>
          <a:noFill/>
          <a:ln/>
        </p:spPr>
        <p:txBody>
          <a:bodyPr wrap="none" lIns="0" tIns="0" rIns="0" bIns="0" rtlCol="0" anchor="t"/>
          <a:lstStyle/>
          <a:p>
            <a:pPr algn="l" marL="342900" indent="-342900">
              <a:lnSpc>
                <a:spcPts val="2950"/>
              </a:lnSpc>
              <a:buSzPct val="100000"/>
              <a:buChar char="•"/>
            </a:pPr>
            <a:r>
              <a:rPr lang="en-US" sz="1850" dirty="0">
                <a:solidFill>
                  <a:srgbClr val="F9EEE7"/>
                </a:solidFill>
                <a:latin typeface="Quattrocento" pitchFamily="34" charset="0"/>
                <a:ea typeface="Quattrocento" pitchFamily="34" charset="-122"/>
                <a:cs typeface="Quattrocento" pitchFamily="34" charset="-120"/>
              </a:rPr>
              <a:t>Security must be layered: from transport (JWT) to data (Encryption) to input validation (Strikes).</a:t>
            </a:r>
            <a:endParaRPr lang="en-US" sz="1850" dirty="0"/>
          </a:p>
        </p:txBody>
      </p:sp>
      <p:sp>
        <p:nvSpPr>
          <p:cNvPr id="8" name="Text 6"/>
          <p:cNvSpPr/>
          <p:nvPr/>
        </p:nvSpPr>
        <p:spPr>
          <a:xfrm>
            <a:off x="830104" y="5445919"/>
            <a:ext cx="11161633" cy="1395174"/>
          </a:xfrm>
          <a:prstGeom prst="rect">
            <a:avLst/>
          </a:prstGeom>
          <a:noFill/>
          <a:ln/>
        </p:spPr>
        <p:txBody>
          <a:bodyPr wrap="none" lIns="0" tIns="0" rIns="0" bIns="0" rtlCol="0" anchor="t"/>
          <a:lstStyle/>
          <a:p>
            <a:pPr algn="l" indent="0" marL="0">
              <a:lnSpc>
                <a:spcPts val="10950"/>
              </a:lnSpc>
              <a:buNone/>
            </a:pPr>
            <a:r>
              <a:rPr lang="en-US" sz="8750" dirty="0">
                <a:solidFill>
                  <a:srgbClr val="EF9C82"/>
                </a:solidFill>
                <a:latin typeface="Quattrocento" pitchFamily="34" charset="0"/>
                <a:ea typeface="Quattrocento" pitchFamily="34" charset="-122"/>
                <a:cs typeface="Quattrocento" pitchFamily="34" charset="-120"/>
              </a:rPr>
              <a:t>Thank You!</a:t>
            </a:r>
            <a:endParaRPr lang="en-US" sz="8750" dirty="0"/>
          </a:p>
        </p:txBody>
      </p:sp>
      <p:sp>
        <p:nvSpPr>
          <p:cNvPr id="9" name="Text 7"/>
          <p:cNvSpPr/>
          <p:nvPr/>
        </p:nvSpPr>
        <p:spPr>
          <a:xfrm>
            <a:off x="830104" y="7196852"/>
            <a:ext cx="12970193" cy="379452"/>
          </a:xfrm>
          <a:prstGeom prst="rect">
            <a:avLst/>
          </a:prstGeom>
          <a:noFill/>
          <a:ln/>
        </p:spPr>
        <p:txBody>
          <a:bodyPr wrap="none" lIns="0" tIns="0" rIns="0" bIns="0" rtlCol="0" anchor="t"/>
          <a:lstStyle/>
          <a:p>
            <a:pPr algn="l" indent="0" marL="0">
              <a:lnSpc>
                <a:spcPts val="2950"/>
              </a:lnSpc>
              <a:buNone/>
            </a:pPr>
            <a:r>
              <a:rPr lang="en-US" sz="1850" b="1" dirty="0">
                <a:solidFill>
                  <a:srgbClr val="F9EEE7"/>
                </a:solidFill>
                <a:latin typeface="Quattrocento" pitchFamily="34" charset="0"/>
                <a:ea typeface="Quattrocento" pitchFamily="34" charset="-122"/>
                <a:cs typeface="Quattrocento" pitchFamily="34" charset="-120"/>
              </a:rPr>
              <a:t>GitHub Repository Link :  </a:t>
            </a:r>
            <a:pPr algn="l" indent="0" marL="0">
              <a:lnSpc>
                <a:spcPts val="2950"/>
              </a:lnSpc>
              <a:buNone/>
            </a:pPr>
            <a:r>
              <a:rPr lang="en-US" sz="1850" b="1" u="sng" dirty="0">
                <a:solidFill>
                  <a:srgbClr val="EF9C82"/>
                </a:solidFill>
                <a:latin typeface="Quattrocento" pitchFamily="34" charset="0"/>
                <a:ea typeface="Quattrocento" pitchFamily="34" charset="-122"/>
                <a:cs typeface="Quattrocen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https://github.com/Bhuvangs04/Full-Stack-website</a:t>
            </a:r>
            <a:pPr algn="l" indent="0" marL="0">
              <a:lnSpc>
                <a:spcPts val="2950"/>
              </a:lnSpc>
              <a:buNone/>
            </a:pPr>
            <a:r>
              <a:rPr lang="en-US" sz="1850" b="1" dirty="0">
                <a:solidFill>
                  <a:srgbClr val="F9EEE7"/>
                </a:solidFill>
                <a:latin typeface="Quattrocento" pitchFamily="34" charset="0"/>
                <a:ea typeface="Quattrocento" pitchFamily="34" charset="-122"/>
                <a:cs typeface="Quattrocento" pitchFamily="34" charset="-120"/>
              </a:rPr>
              <a:t> </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2025-11-11T19:28:10Z</dcterms:created>
  <dcterms:modified xsi:type="dcterms:W3CDTF">2025-11-11T19:28:10Z</dcterms:modified>
</cp:coreProperties>
</file>